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0c257ff11c74129" /><Relationship Type="http://schemas.openxmlformats.org/officeDocument/2006/relationships/extended-properties" Target="/docProps/app.xml" Id="R3e1da0190dd54f33" /><Relationship Type="http://schemas.openxmlformats.org/officeDocument/2006/relationships/officeDocument" Target="/ppt/presentation.xml" Id="R19e481bdb7f949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6057ba952f4d57"/>
  </p:sldMasterIdLst>
  <p:notesMasterIdLst>
    <p:notesMasterId xmlns:r="http://schemas.openxmlformats.org/officeDocument/2006/relationships" r:id="R435219fc78984dc0"/>
  </p:notesMasterIdLst>
  <p:sldIdLst>
    <p:sldId xmlns:r="http://schemas.openxmlformats.org/officeDocument/2006/relationships" id="256" r:id="R6ec6044ff103429d"/>
    <p:sldId xmlns:r="http://schemas.openxmlformats.org/officeDocument/2006/relationships" id="257" r:id="R1f8cbdfe2cba4485"/>
    <p:sldId xmlns:r="http://schemas.openxmlformats.org/officeDocument/2006/relationships" id="258" r:id="R2606b3c24ce148ad"/>
    <p:sldId xmlns:r="http://schemas.openxmlformats.org/officeDocument/2006/relationships" id="259" r:id="R2b102db929cc4fbb"/>
    <p:sldId xmlns:r="http://schemas.openxmlformats.org/officeDocument/2006/relationships" id="260" r:id="R8b85257c14ad4694"/>
    <p:sldId xmlns:r="http://schemas.openxmlformats.org/officeDocument/2006/relationships" id="261" r:id="Rf3c57a37d15148ad"/>
    <p:sldId xmlns:r="http://schemas.openxmlformats.org/officeDocument/2006/relationships" id="262" r:id="Rde643c2876c349a6"/>
    <p:sldId xmlns:r="http://schemas.openxmlformats.org/officeDocument/2006/relationships" id="263" r:id="R505db88880714820"/>
    <p:sldId xmlns:r="http://schemas.openxmlformats.org/officeDocument/2006/relationships" id="264" r:id="Rfdf8885e215f4d1e"/>
    <p:sldId xmlns:r="http://schemas.openxmlformats.org/officeDocument/2006/relationships" id="265" r:id="R8eb85342aaeb46fa"/>
    <p:sldId xmlns:r="http://schemas.openxmlformats.org/officeDocument/2006/relationships" id="266" r:id="R77b46b53e734438d"/>
    <p:sldId xmlns:r="http://schemas.openxmlformats.org/officeDocument/2006/relationships" id="267" r:id="R44484272d06c4e5f"/>
    <p:sldId xmlns:r="http://schemas.openxmlformats.org/officeDocument/2006/relationships" id="268" r:id="R12831f68ff6643cb"/>
    <p:sldId xmlns:r="http://schemas.openxmlformats.org/officeDocument/2006/relationships" id="269" r:id="Rcaeb1475ed474664"/>
    <p:sldId xmlns:r="http://schemas.openxmlformats.org/officeDocument/2006/relationships" id="270" r:id="R996455c94bbe4a1a"/>
    <p:sldId xmlns:r="http://schemas.openxmlformats.org/officeDocument/2006/relationships" id="271" r:id="R4408be5588de4e10"/>
    <p:sldId xmlns:r="http://schemas.openxmlformats.org/officeDocument/2006/relationships" id="272" r:id="Rfbfbc59ccfdd4687"/>
    <p:sldId xmlns:r="http://schemas.openxmlformats.org/officeDocument/2006/relationships" id="273" r:id="R2de9f269e6a04908"/>
    <p:sldId xmlns:r="http://schemas.openxmlformats.org/officeDocument/2006/relationships" id="274" r:id="Rffe45e18ac3749a9"/>
    <p:sldId xmlns:r="http://schemas.openxmlformats.org/officeDocument/2006/relationships" id="275" r:id="R71010d27c0f14c4b"/>
    <p:sldId xmlns:r="http://schemas.openxmlformats.org/officeDocument/2006/relationships" id="276" r:id="R95fcb39c44644942"/>
    <p:sldId xmlns:r="http://schemas.openxmlformats.org/officeDocument/2006/relationships" id="277" r:id="Rfc05f72cee2941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e7782d97414165" /><Relationship Type="http://schemas.openxmlformats.org/officeDocument/2006/relationships/slideMaster" Target="/ppt/slideMasters/slideMaster1.xml" Id="R166057ba952f4d57" /><Relationship Type="http://schemas.openxmlformats.org/officeDocument/2006/relationships/notesMaster" Target="/ppt/notesMasters/notesMaster1.xml" Id="R435219fc78984dc0" /><Relationship Type="http://schemas.openxmlformats.org/officeDocument/2006/relationships/presProps" Target="/ppt/presProps.xml" Id="R87058409c34742e4" /><Relationship Type="http://schemas.openxmlformats.org/officeDocument/2006/relationships/tableStyles" Target="/ppt/tableStyles.xml" Id="R0469ccae293c4ddb" /><Relationship Type="http://schemas.openxmlformats.org/officeDocument/2006/relationships/slide" Target="/ppt/slides/slide1.xml" Id="R6ec6044ff103429d" /><Relationship Type="http://schemas.openxmlformats.org/officeDocument/2006/relationships/slide" Target="/ppt/slides/slide2.xml" Id="R1f8cbdfe2cba4485" /><Relationship Type="http://schemas.openxmlformats.org/officeDocument/2006/relationships/slide" Target="/ppt/slides/slide3.xml" Id="R2606b3c24ce148ad" /><Relationship Type="http://schemas.openxmlformats.org/officeDocument/2006/relationships/slide" Target="/ppt/slides/slide4.xml" Id="R2b102db929cc4fbb" /><Relationship Type="http://schemas.openxmlformats.org/officeDocument/2006/relationships/slide" Target="/ppt/slides/slide5.xml" Id="R8b85257c14ad4694" /><Relationship Type="http://schemas.openxmlformats.org/officeDocument/2006/relationships/slide" Target="/ppt/slides/slide6.xml" Id="Rf3c57a37d15148ad" /><Relationship Type="http://schemas.openxmlformats.org/officeDocument/2006/relationships/slide" Target="/ppt/slides/slide7.xml" Id="Rde643c2876c349a6" /><Relationship Type="http://schemas.openxmlformats.org/officeDocument/2006/relationships/slide" Target="/ppt/slides/slide8.xml" Id="R505db88880714820" /><Relationship Type="http://schemas.openxmlformats.org/officeDocument/2006/relationships/slide" Target="/ppt/slides/slide9.xml" Id="Rfdf8885e215f4d1e" /><Relationship Type="http://schemas.openxmlformats.org/officeDocument/2006/relationships/slide" Target="/ppt/slides/slide10.xml" Id="R8eb85342aaeb46fa" /><Relationship Type="http://schemas.openxmlformats.org/officeDocument/2006/relationships/slide" Target="/ppt/slides/slide11.xml" Id="R77b46b53e734438d" /><Relationship Type="http://schemas.openxmlformats.org/officeDocument/2006/relationships/slide" Target="/ppt/slides/slide12.xml" Id="R44484272d06c4e5f" /><Relationship Type="http://schemas.openxmlformats.org/officeDocument/2006/relationships/slide" Target="/ppt/slides/slide13.xml" Id="R12831f68ff6643cb" /><Relationship Type="http://schemas.openxmlformats.org/officeDocument/2006/relationships/slide" Target="/ppt/slides/slide14.xml" Id="Rcaeb1475ed474664" /><Relationship Type="http://schemas.openxmlformats.org/officeDocument/2006/relationships/slide" Target="/ppt/slides/slide15.xml" Id="R996455c94bbe4a1a" /><Relationship Type="http://schemas.openxmlformats.org/officeDocument/2006/relationships/slide" Target="/ppt/slides/slide16.xml" Id="R4408be5588de4e10" /><Relationship Type="http://schemas.openxmlformats.org/officeDocument/2006/relationships/slide" Target="/ppt/slides/slide17.xml" Id="Rfbfbc59ccfdd4687" /><Relationship Type="http://schemas.openxmlformats.org/officeDocument/2006/relationships/slide" Target="/ppt/slides/slide18.xml" Id="R2de9f269e6a04908" /><Relationship Type="http://schemas.openxmlformats.org/officeDocument/2006/relationships/slide" Target="/ppt/slides/slide19.xml" Id="Rffe45e18ac3749a9" /><Relationship Type="http://schemas.openxmlformats.org/officeDocument/2006/relationships/slide" Target="/ppt/slides/slide20.xml" Id="R71010d27c0f14c4b" /><Relationship Type="http://schemas.openxmlformats.org/officeDocument/2006/relationships/slide" Target="/ppt/slides/slide21.xml" Id="R95fcb39c44644942" /><Relationship Type="http://schemas.openxmlformats.org/officeDocument/2006/relationships/slide" Target="/ppt/slides/slide22.xml" Id="Rfc05f72cee2941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f83fa7d5a747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44adca844af44b8" /><Relationship Type="http://schemas.openxmlformats.org/officeDocument/2006/relationships/notesMaster" Target="/ppt/notesMasters/notesMaster1.xml" Id="R77d7be1dbdb548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531f5550a7b4bb6" /><Relationship Type="http://schemas.openxmlformats.org/officeDocument/2006/relationships/notesMaster" Target="/ppt/notesMasters/notesMaster1.xml" Id="Rb315730197ad4e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acd35c4037d4618" /><Relationship Type="http://schemas.openxmlformats.org/officeDocument/2006/relationships/notesMaster" Target="/ppt/notesMasters/notesMaster1.xml" Id="R5141205f90a843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367b5e850f45c1" /><Relationship Type="http://schemas.openxmlformats.org/officeDocument/2006/relationships/notesMaster" Target="/ppt/notesMasters/notesMaster1.xml" Id="Rc4fd7728ab4c49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28e2346d24417b" /><Relationship Type="http://schemas.openxmlformats.org/officeDocument/2006/relationships/notesMaster" Target="/ppt/notesMasters/notesMaster1.xml" Id="Rc4c7faf6293b42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224e2169c84c38" /><Relationship Type="http://schemas.openxmlformats.org/officeDocument/2006/relationships/notesMaster" Target="/ppt/notesMasters/notesMaster1.xml" Id="R9ad22fb02c3041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512b237fc94100" /><Relationship Type="http://schemas.openxmlformats.org/officeDocument/2006/relationships/notesMaster" Target="/ppt/notesMasters/notesMaster1.xml" Id="R31ee7530744240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cf67527f424012" /><Relationship Type="http://schemas.openxmlformats.org/officeDocument/2006/relationships/notesMaster" Target="/ppt/notesMasters/notesMaster1.xml" Id="Rc21eea47abb84c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ed6056479347d8" /><Relationship Type="http://schemas.openxmlformats.org/officeDocument/2006/relationships/notesMaster" Target="/ppt/notesMasters/notesMaster1.xml" Id="Rfd86bae4d3914db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d389403b10e4d05" /><Relationship Type="http://schemas.openxmlformats.org/officeDocument/2006/relationships/notesMaster" Target="/ppt/notesMasters/notesMaster1.xml" Id="R8385208d8c8f46c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7ab269c28245b3" /><Relationship Type="http://schemas.openxmlformats.org/officeDocument/2006/relationships/notesMaster" Target="/ppt/notesMasters/notesMaster1.xml" Id="R59937c86d3c1472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1c714d626164746" /><Relationship Type="http://schemas.openxmlformats.org/officeDocument/2006/relationships/notesMaster" Target="/ppt/notesMasters/notesMaster1.xml" Id="R4cc49f82437649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0115d1afa74319" /><Relationship Type="http://schemas.openxmlformats.org/officeDocument/2006/relationships/notesMaster" Target="/ppt/notesMasters/notesMaster1.xml" Id="Rf9752765d7884ce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eff875d382c41e1" /><Relationship Type="http://schemas.openxmlformats.org/officeDocument/2006/relationships/notesMaster" Target="/ppt/notesMasters/notesMaster1.xml" Id="R9a5c199ecccb43b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b020b13f2aa447c" /><Relationship Type="http://schemas.openxmlformats.org/officeDocument/2006/relationships/notesMaster" Target="/ppt/notesMasters/notesMaster1.xml" Id="R20dd8b134051408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7ab97303b324767" /><Relationship Type="http://schemas.openxmlformats.org/officeDocument/2006/relationships/notesMaster" Target="/ppt/notesMasters/notesMaster1.xml" Id="R7cc6a7c0dec244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d8b8bc8a29c4437" /><Relationship Type="http://schemas.openxmlformats.org/officeDocument/2006/relationships/notesMaster" Target="/ppt/notesMasters/notesMaster1.xml" Id="Rb7f6012faa2b4ba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ef0ec5d7d174f0a" /><Relationship Type="http://schemas.openxmlformats.org/officeDocument/2006/relationships/notesMaster" Target="/ppt/notesMasters/notesMaster1.xml" Id="R3b0cad0e2090470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90e297e418844e0" /><Relationship Type="http://schemas.openxmlformats.org/officeDocument/2006/relationships/notesMaster" Target="/ppt/notesMasters/notesMaster1.xml" Id="Reed29655ce99474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38f067db92a4c48" /><Relationship Type="http://schemas.openxmlformats.org/officeDocument/2006/relationships/notesMaster" Target="/ppt/notesMasters/notesMaster1.xml" Id="Rb348a22bfd814b2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bb6746c7e244078" /><Relationship Type="http://schemas.openxmlformats.org/officeDocument/2006/relationships/notesMaster" Target="/ppt/notesMasters/notesMaster1.xml" Id="R5eb2395a04274a8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cbb8cbffde54fa3" /><Relationship Type="http://schemas.openxmlformats.org/officeDocument/2006/relationships/notesMaster" Target="/ppt/notesMasters/notesMaster1.xml" Id="Rba170359f2bc42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72e91bdeda4e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11382cb91f448e" /><Relationship Type="http://schemas.openxmlformats.org/officeDocument/2006/relationships/slideLayout" Target="/ppt/slideLayouts/slideLayout1.xml" Id="R5c65cfdf887349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65cfdf887349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0a494e76934e6e" /><Relationship Type="http://schemas.openxmlformats.org/officeDocument/2006/relationships/notesSlide" Target="/ppt/notesSlides/notesSlide1.xml" Id="R524f8d80ce7e47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01d650e287414f" /><Relationship Type="http://schemas.openxmlformats.org/officeDocument/2006/relationships/notesSlide" Target="/ppt/notesSlides/notesSlide2.xml" Id="Ra401eba111764f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1daa9b04f4f2b" /><Relationship Type="http://schemas.openxmlformats.org/officeDocument/2006/relationships/notesSlide" Target="/ppt/notesSlides/notesSlide3.xml" Id="R7692caa873dd4d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60389e0a2a4041" /><Relationship Type="http://schemas.openxmlformats.org/officeDocument/2006/relationships/notesSlide" Target="/ppt/notesSlides/notesSlide4.xml" Id="Rd266021122ad46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f34c67c0245d4" /><Relationship Type="http://schemas.openxmlformats.org/officeDocument/2006/relationships/image" Target="/ppt/media/image.jpeg" Id="Rb08f7d2254754b80" /><Relationship Type="http://schemas.openxmlformats.org/officeDocument/2006/relationships/image" Target="/ppt/media/image2.jpeg" Id="R210c8e51433f4610" /><Relationship Type="http://schemas.openxmlformats.org/officeDocument/2006/relationships/notesSlide" Target="/ppt/notesSlides/notesSlide5.xml" Id="R3e09fb832c9446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f5c45761804ef9" /><Relationship Type="http://schemas.openxmlformats.org/officeDocument/2006/relationships/notesSlide" Target="/ppt/notesSlides/notesSlide6.xml" Id="Rb415d31889c64e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d1531494641e7" /><Relationship Type="http://schemas.openxmlformats.org/officeDocument/2006/relationships/notesSlide" Target="/ppt/notesSlides/notesSlide7.xml" Id="R06ae8b75d5c04a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a39e13cbba4783" /><Relationship Type="http://schemas.openxmlformats.org/officeDocument/2006/relationships/notesSlide" Target="/ppt/notesSlides/notesSlide8.xml" Id="R84d419b2087e42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b5579eb6f54bbd" /><Relationship Type="http://schemas.openxmlformats.org/officeDocument/2006/relationships/notesSlide" Target="/ppt/notesSlides/notesSlide9.xml" Id="R6cb2a78be4734ab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016285b244087" /><Relationship Type="http://schemas.openxmlformats.org/officeDocument/2006/relationships/image" Target="/ppt/media/image3.jpeg" Id="Re73f2bdd2a2f4deb" /><Relationship Type="http://schemas.openxmlformats.org/officeDocument/2006/relationships/image" Target="/ppt/media/image4.jpeg" Id="R69797c2f668c4134" /><Relationship Type="http://schemas.openxmlformats.org/officeDocument/2006/relationships/notesSlide" Target="/ppt/notesSlides/notesSlide10.xml" Id="Rdd9723046e7749b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4002b741946b7" /><Relationship Type="http://schemas.openxmlformats.org/officeDocument/2006/relationships/image" Target="/ppt/media/image5.jpeg" Id="R015cd45884f94412" /><Relationship Type="http://schemas.openxmlformats.org/officeDocument/2006/relationships/notesSlide" Target="/ppt/notesSlides/notesSlide11.xml" Id="R62f98f879861499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2c067d5744b67" /><Relationship Type="http://schemas.openxmlformats.org/officeDocument/2006/relationships/image" Target="/ppt/media/image6.jpeg" Id="R71a7ada2d60c4693" /><Relationship Type="http://schemas.openxmlformats.org/officeDocument/2006/relationships/notesSlide" Target="/ppt/notesSlides/notesSlide12.xml" Id="R17a3c0fd598247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0b6423675454e" /><Relationship Type="http://schemas.openxmlformats.org/officeDocument/2006/relationships/image" Target="/ppt/media/image7.jpeg" Id="Rac26d321df824949" /><Relationship Type="http://schemas.openxmlformats.org/officeDocument/2006/relationships/notesSlide" Target="/ppt/notesSlides/notesSlide13.xml" Id="R8ba45603e751405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a187123c0415e" /><Relationship Type="http://schemas.openxmlformats.org/officeDocument/2006/relationships/image" Target="/ppt/media/image8.jpeg" Id="R976414b1ae9c4e3d" /><Relationship Type="http://schemas.openxmlformats.org/officeDocument/2006/relationships/notesSlide" Target="/ppt/notesSlides/notesSlide14.xml" Id="R66851995db2f4f3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45f5810e849a2" /><Relationship Type="http://schemas.openxmlformats.org/officeDocument/2006/relationships/image" Target="/ppt/media/image9.jpeg" Id="R8f142f02ebe840fc" /><Relationship Type="http://schemas.openxmlformats.org/officeDocument/2006/relationships/notesSlide" Target="/ppt/notesSlides/notesSlide15.xml" Id="Rf28b3235123048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f49185ebd4b25" /><Relationship Type="http://schemas.openxmlformats.org/officeDocument/2006/relationships/notesSlide" Target="/ppt/notesSlides/notesSlide16.xml" Id="Rd63a956edcbf476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537cdbc6034020" /><Relationship Type="http://schemas.openxmlformats.org/officeDocument/2006/relationships/image" Target="/ppt/media/image10.jpeg" Id="R4bd5cb5dbc454efd" /><Relationship Type="http://schemas.openxmlformats.org/officeDocument/2006/relationships/notesSlide" Target="/ppt/notesSlides/notesSlide17.xml" Id="R34295566e45543d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9d1d309f1432c" /><Relationship Type="http://schemas.openxmlformats.org/officeDocument/2006/relationships/image" Target="/ppt/media/image11.jpeg" Id="R5b3d75492e4548cd" /><Relationship Type="http://schemas.openxmlformats.org/officeDocument/2006/relationships/notesSlide" Target="/ppt/notesSlides/notesSlide18.xml" Id="R60acfe85383d492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5104177f94103" /><Relationship Type="http://schemas.openxmlformats.org/officeDocument/2006/relationships/image" Target="/ppt/media/image12.jpeg" Id="R56f517ba898e41b9" /><Relationship Type="http://schemas.openxmlformats.org/officeDocument/2006/relationships/notesSlide" Target="/ppt/notesSlides/notesSlide19.xml" Id="R7ecf2d6f377c43a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9bf77fcdf4e2f" /><Relationship Type="http://schemas.openxmlformats.org/officeDocument/2006/relationships/notesSlide" Target="/ppt/notesSlides/notesSlide20.xml" Id="Rf8872f88ea864c1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fa592fcd4441c" /><Relationship Type="http://schemas.openxmlformats.org/officeDocument/2006/relationships/notesSlide" Target="/ppt/notesSlides/notesSlide21.xml" Id="R8d84cc692ba24f6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9c18a795b34655" /><Relationship Type="http://schemas.openxmlformats.org/officeDocument/2006/relationships/notesSlide" Target="/ppt/notesSlides/notesSlide22.xml" Id="Rce39bb8c147c4e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29C702-A0B9-43DB-AC55-8B89515F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ReviewIQ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5C04C-032A-405E-8DCB-689ADE45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7239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评论分析系统</a:t>
            </a:r>
          </a:p>
          <a:p xmlns:a="http://schemas.openxmlformats.org/drawingml/2006/main">
            <a:pPr algn="l">
              <a:defRPr sz="4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用户培训课件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77E46-CAB5-4DE4-87D0-8E7679C8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功能介绍 · 专业名词 · 操作流程 · 结果解读 · 业务价值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D305B-AA88-477A-AC06-4DCF9371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F60A4-FDDB-4F79-9A3B-20C0E4D8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123950"/>
            <a:ext cx="2667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B4F865-6080-46F8-ABBC-1510DCA4C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3335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培训目标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0A4DDA-BAAF-47C4-8BBA-5C95CC1D8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526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让用户能独立完成采集、分析、复核、导出和行动跟进。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D12C98-4164-46D6-B36A-96C8BADB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43200"/>
            <a:ext cx="2667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A10EF4-9FD9-423D-B02A-AA7DC89B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95275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核心方法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75DB19-C774-48ED-9638-6F188DD88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7185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链接可访问、类型选正确、结论回原文验证。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54C1D-AC65-44A3-8E7B-8CE6A881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362450"/>
            <a:ext cx="2667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BCAF78-68F0-41CC-8688-B2AC323D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5720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适用对象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D90AB-5FEA-4C00-A48B-EEC98709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9911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11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运营、内容、投放、客服、产品和管理员。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C347A-8E3A-4FD6-AFA1-CF244CB9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856AD6-CF5A-42E5-B74B-A2E1FF08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ReviewIQ 培训课件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65147C-3114-4B6B-A74C-893DF1B0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526883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83FB44-AC15-4015-B809-1B7D87D6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培训路径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B353F-D065-462D-A877-C89F03A7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本次培训怎么讲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1E9BE-4D66-47CB-8D41-B4F06DC9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从理解系统，到完成一次真实任务，再到读懂结果和沉淀价值。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D7C4A-6649-4749-BEA5-AED6CD8D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99BA4-0FAC-4566-BB24-70E47265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培训路径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3F0591-CE3B-40A6-9529-BBB8E000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9480D3-AA23-4C9F-B977-BB73E7E8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145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228A8-36DA-4788-8641-2BC145EE7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8D9A31-F885-4C77-85F0-951CB54D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697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01 系统认知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ED994-8DEC-44BE-8E07-A5A18AB5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81250"/>
            <a:ext cx="697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ReviewIQ 解决什么问题，适合哪些业务场景。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085B8-615F-4280-BE66-EE3997E16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38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D39B1F-88F8-435A-930F-61D94A91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670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32AB1-9C64-4AD9-A003-AF0A9D8C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19400"/>
            <a:ext cx="697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02 名词解释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06F5BB-66C1-4E58-AEBE-3A1D4BB9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697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任务、采集记录、监听任务、NPS、用户声音、行动项。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933554-BFE3-4BBD-A470-EFB1D383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8B163A-43C2-4956-A352-213D2765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0B5E2B-52DA-4AEC-981F-F2BCFE9B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43300"/>
            <a:ext cx="697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03 操作流程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4497F-9FFF-4031-BD24-71D9F52F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29050"/>
            <a:ext cx="697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一次性采集、持续监听、AI 分析、报告查看、评论复核。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8A7368-AD54-4924-AF00-E4790E8A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B147FC-0D16-45AA-A229-E66CF6421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14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E99035-D081-4A18-9A97-373B32A9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697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04 结果使用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36284D-4AAC-44AB-BE7C-3A4219F0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52950"/>
            <a:ext cx="697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导出报告、验证原文、形成增长运营行动项。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DEFA67-EB1F-425D-82E1-DD972B38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FF6ED8-AE75-4F28-927E-E1E2DABD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38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18CAF24-EBE5-4490-BB77-6CE870189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91100"/>
            <a:ext cx="697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05 价值和规范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5B35ED-9ED9-4309-B075-A9361162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76850"/>
            <a:ext cx="6972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效率、质量、协作、安全和日常最佳实践。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069C02-D110-41D2-B9C5-2661302F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2476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50DD88-3E25-40B4-9B9E-D72D4542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622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建议时长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072B3-94FE-4123-B00B-D96EC1A7E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905125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48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45-60 分钟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73D577-5640-4929-A3F4-653E98CE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33800"/>
            <a:ext cx="1905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其中系统演示建议不少于 25 分钟，最后预留真实问题答疑。</a:t>
            </a:r>
          </a:p>
        </p:txBody>
      </p:sp>
    </p:spTree>
    <p:extLst>
      <p:ext uri="{BB962C8B-B14F-4D97-AF65-F5344CB8AC3E}">
        <p14:creationId xmlns:p14="http://schemas.microsoft.com/office/powerpoint/2010/main" val="15339515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771F88-A177-48D3-BB35-20C681FD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功能介绍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C5797D-E933-4188-8BDC-5701A3F92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系统定位：把评论变成可执行洞察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22C6C6-5CCE-4813-BDEE-2BE63F35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不是简单抓评论，也不是只生成一段 AI 总结；重点是形成可复核、可分享、可跟进的工作流。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A1EC58-F942-4AE7-AC01-1772CD98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A9AF08-E8B3-484F-9A59-AE98AA87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功能介绍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F52E7-705B-4189-9AE9-45CD55974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7249A-FB0A-4CBE-A0C3-8BBC1015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2669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841C67-AC67-4D16-8A16-B9237599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B28D81-06F7-4254-9094-14E49A6E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 YouTube、TikTok 等来源获取评论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C79A6-1BB1-442C-A634-3E993972D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00375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6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D2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9D2D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B3D36B-FDB5-4978-8EB0-A30A230E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333625"/>
            <a:ext cx="22669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C00F72-E5BC-4E4D-8ADC-BF347F033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47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AEE69-7ED7-489E-AF53-6E87F9FA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8612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按视频、商品、社媒等类型做 AI 结构化分析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CDFBF1-E652-4AB9-AFA3-306E7544E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000375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6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D2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9D2D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6A68E-DA6D-484B-AC1C-D2747F88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33625"/>
            <a:ext cx="22669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BCCC8F-B605-4770-B6E3-83B63412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复核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87705-32B0-4053-B03E-2494A179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8612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回到评论明细验证原文和标签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F27D52-2B41-4667-AF55-CAA2BCBB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000375"/>
            <a:ext cx="361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2682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9D2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C9D2DE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8A71A6-5853-443D-B7C4-5C9A2027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33625"/>
            <a:ext cx="22669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0EE2FC-1E04-4ECD-8ACA-72348DA5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479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行动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742C56-A64F-4C50-97A1-88812135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286125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沉淀报告、导出材料、跟进行动项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E60D2A-D8B0-457F-9FC7-27974174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530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最终产出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06909E-7E6B-487E-95BA-40979B12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9720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分析报告、可引用评论、导出文件、专题视图、增长运营行动项。</a:t>
            </a:r>
          </a:p>
        </p:txBody>
      </p:sp>
    </p:spTree>
    <p:extLst>
      <p:ext uri="{BB962C8B-B14F-4D97-AF65-F5344CB8AC3E}">
        <p14:creationId xmlns:p14="http://schemas.microsoft.com/office/powerpoint/2010/main" val="8404988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2EAC24-B123-471D-9BC3-25DAB873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功能介绍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C8031-B9E1-4B55-BFD5-633745B9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核心功能地图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6E089-52DA-43A9-89BE-075F7E70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普通用户聚焦业务操作；管理员负责底层配置和权限治理。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EA26B4-10D3-4F1C-8DEA-A80206B6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75859-7ED7-4C33-931E-B41B62FA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功能介绍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0FCFA-6A87-4CAA-87D4-F799708DF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4D3CC-7284-47DF-AE4C-C716E820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276EB0-0540-47FE-A173-B5D21E9D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任务看板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08B6C-BAD5-43E4-923A-316847B51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看任务、额度、最近进度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41D62-8323-4163-B318-0DDBFF9D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9095B-B5E9-4880-9B33-E5763C30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050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评论采集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4273A-510F-4339-A4C3-49DAE142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241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一次采集、持续监听、重试删除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9B426C-C8DB-4B6F-9664-32F1A053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9550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91360A-2526-4D3B-A964-916E22C8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050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AI 分析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9DAF9-B5DD-42EB-839F-A23E63F02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2415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排队、运行、日志、失败定位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7FBD76-939D-4C73-86BE-03147B54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261796-B801-43B8-B3BC-36391C5C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分析报告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F2F7B5-5B8A-4A76-8655-FEDB23D1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执行摘要、指标快照、主题洞察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7CD37E-9D9C-4951-8764-FBB3291C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67F3B6-234E-43B4-8CFA-0582E430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243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评论明细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1B42D-0C34-422C-948F-D43157F0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4340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搜索、筛选、导出、人工修正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B7B994-FACC-4522-A6BA-A1456724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3048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6BAE4A-5B78-4263-B1C9-FA5CAC74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增长运营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5E5073-7B8C-451A-A587-842A3D13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2628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机会点、行动项、负责人和状态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BE8F91-271E-4B24-AA25-FE704BCF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普通用户不维护模型、提示词、抓取策略、代理和后台额度。</a:t>
            </a:r>
          </a:p>
        </p:txBody>
      </p:sp>
    </p:spTree>
    <p:extLst>
      <p:ext uri="{BB962C8B-B14F-4D97-AF65-F5344CB8AC3E}">
        <p14:creationId xmlns:p14="http://schemas.microsoft.com/office/powerpoint/2010/main" val="12730855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9421D92-2DB8-4E51-854D-0DAAD764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权限说明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91464-AE37-4375-A574-B694E3BA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角色与权限边界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6CE7D-6D66-461D-BF2F-47A9A1BC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培训时要先讲清楚：用户专注业务闭环，超管统一维护底层配置。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A29830-CD92-4F10-9AEB-4097F438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71E08D-B6A5-4460-B181-182C9ABE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权限说明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5CE9AB-86D8-4671-BC41-3EB9AB93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52130-8E51-47AF-B999-014E35A44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478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f7d2254754b80"/>
          <a:stretch xmlns:a="http://schemas.openxmlformats.org/drawingml/2006/main"/>
        </p:blipFill>
        <p:spPr>
          <a:xfrm xmlns:a="http://schemas.openxmlformats.org/drawingml/2006/main">
            <a:off x="6953250" y="1978223"/>
            <a:ext cx="2076450" cy="1168003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D07866-5BD4-4981-9424-62A42EB4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47850"/>
            <a:ext cx="2190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c8e51433f4610"/>
          <a:stretch xmlns:a="http://schemas.openxmlformats.org/drawingml/2006/main"/>
        </p:blipFill>
        <p:spPr>
          <a:xfrm xmlns:a="http://schemas.openxmlformats.org/drawingml/2006/main">
            <a:off x="9315450" y="1978223"/>
            <a:ext cx="2076450" cy="1168003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ACBB39-7D41-40AF-AC90-4C493482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62150"/>
            <a:ext cx="2667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A35939-14E8-48CB-BD9D-886F15E3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普通用户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22094-51D2-49BA-BF1B-FDC3D167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90800"/>
            <a:ext cx="2247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创建采集、查看进度、发起分析、阅读报告、复核评论、导出结果、跟进行动项。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FD912-7B2F-40F1-95E6-3FE2572A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62150"/>
            <a:ext cx="2667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199821-4D61-4485-B1F5-AFB1D80F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71700"/>
            <a:ext cx="2247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超管 / 管理员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311481-1211-4AB0-9650-F2E00698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90800"/>
            <a:ext cx="22479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维护用户、工作区、额度、AI 提示词、模型配置、抓取策略和浏览器插件。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FCB275-B17A-4FE7-944C-BE167904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385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为什么要统一配置？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5318F0-6CC2-41C2-A2F9-FF57EB30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7670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避免不同用户各自调整模型和抓取参数，导致同类任务口径不一致、结果不可比。</a:t>
            </a:r>
          </a:p>
        </p:txBody>
      </p:sp>
    </p:spTree>
    <p:extLst>
      <p:ext uri="{BB962C8B-B14F-4D97-AF65-F5344CB8AC3E}">
        <p14:creationId xmlns:p14="http://schemas.microsoft.com/office/powerpoint/2010/main" val="2667594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A30974-E137-4FE1-B98F-6F87516D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名词解释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53AC5E-A0AC-4823-8E69-D5D082C9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专业名词 1：任务、采集和监听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0FA494-3C5B-4E15-A564-5B7CEAA7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先理解对象关系，后面操作就不会混淆。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5F3C1-E13B-4E0C-B5AD-C285293C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EDCE3D-98F0-4B94-9647-27CA7114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名词解释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57F5D-DA9F-403B-A5F3-9C768D1D1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7D7D8-2926-4509-BCA2-CCCE1E83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3CC36-5055-49A8-85E6-29445FC4D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B2A383-68A0-45A5-B381-7C36C693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241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95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一次评论导入或采集后形成的分析对象，是报告和明细的主线。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F9E9D-7228-45DD-8C8D-28A9F069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4A151E-6ACE-4770-9E71-F5E82C7F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30505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采集记录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525D71-6AD2-49E6-9FFD-8EA06019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2415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一次抓取执行记录，关注排队、抓取中、完成、失败和重试。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83FA9-C229-4E39-810D-405142FA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C63DC-30E4-401F-9F5B-D8DA9EE6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148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监听任务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B8C2EA-2C7B-4BB2-BDB4-3EDC0F3A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3390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69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按固定频率自动采集新评论的长期任务，适合持续追踪同一链接。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42E1B-198C-408F-ACBB-0C26559F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05250"/>
            <a:ext cx="4953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47ECAC-1521-430F-BE33-3437113C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14800"/>
            <a:ext cx="4533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工作区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3E1645-36AC-4373-B648-033F96C1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533900"/>
            <a:ext cx="4533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44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隔离团队、客户或项目数据的空间，不同工作区数据通常不可互看。</a:t>
            </a:r>
          </a:p>
        </p:txBody>
      </p:sp>
    </p:spTree>
    <p:extLst>
      <p:ext uri="{BB962C8B-B14F-4D97-AF65-F5344CB8AC3E}">
        <p14:creationId xmlns:p14="http://schemas.microsoft.com/office/powerpoint/2010/main" val="2632697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DFE173-B563-437A-9A72-79FE4727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名词解释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40FCA-38F4-472D-BA4A-C503DBB9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专业名词 2：分析指标怎么理解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633E2D-79AE-49E0-A310-CBCB6BE8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这些词不是为了好看，而是帮助判断用户态度、主题和下一步动作。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C6508-A35D-4689-9CEE-2CA1F00A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FAB3D-0825-4F12-9A92-4B923A5A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名词解释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AC2C4-822F-40AB-BB8C-71E2EFF78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E2AD53-A260-44F3-B987-20F00C774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65DB2-F021-4655-89F8-0C3157A54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574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NPS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C7010F-C081-48D6-BBFB-AEBFC72C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7652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净推荐或态度倾向。视频类评论要结合内容认可、观看体验和观点倾向解释。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AFC685-4EDA-4B34-BF27-295693DF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47875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4792A-4B56-467F-9F42-B47D2348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574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情绪分布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096F9-53D1-4EB3-BBF8-9A8A8575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7652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评论整体正向、中性、负向的占比，用于判断舆情基调。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23BE4A-6188-427A-943F-5CCC4A8F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47875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A2145C-9EDD-4B19-9C77-4EC9C03D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5742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用户声音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E85FD3-6090-4643-8C1E-0AA4D7D6E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7652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评论中反复出现的观点、需求、痛点或争议点，不是简单关键词堆砌。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9892CB-514E-4B2E-9739-4D1BDBFF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242C1-A8C6-49E4-A527-22B3DF092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观点聚类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B462E-3C79-4BD2-BA4D-DB9189A50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4340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把相近观点归为主题，帮助从海量评论里找到主要讨论方向。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68E45-88A0-454A-BE03-C124CFED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1475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EE450E-4C5F-4AE5-8E01-247B4BBC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243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代表性评论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78F10E-8846-4DA8-A6D2-11D8A759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34340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能支撑结论的原文证据，对外汇报前需要人工复核。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621488-20AD-414B-860F-403E90DFC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14750"/>
            <a:ext cx="3048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2F61F-7C32-40BA-BFFA-AAB898B6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243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行动项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C9B93F-5176-43C9-A1A1-DC81D128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从洞察拆解出的可执行事项，可分配负责人、优先级和状态。</a:t>
            </a:r>
          </a:p>
        </p:txBody>
      </p:sp>
    </p:spTree>
    <p:extLst>
      <p:ext uri="{BB962C8B-B14F-4D97-AF65-F5344CB8AC3E}">
        <p14:creationId xmlns:p14="http://schemas.microsoft.com/office/powerpoint/2010/main" val="19535047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0F2C4FF-B5A7-4411-B3B0-0FCC43C0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名词解释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6B782-A870-4862-B298-F28816ACF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分析类型一定要选对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398EA-DD67-4D72-801B-0AA241B6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YouTube 视频评论不等于商品评论。类型选错，用户声音、NPS 和行动建议都会跑偏。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21663-360C-4F66-BD77-175C4115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E5004-9BFA-4742-BDEE-004FB8C2B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名词解释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1A5576-79FB-4442-BBB4-5ADFF3A8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986000-B862-4141-A4F1-43909EBA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D8B569-C55B-4039-8C47-63F13561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视频类评论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5B9692-46C8-481A-BD43-3A98FDA9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272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关注观点、态度、争议点、内容反馈、人物/主题讨论和传播效果。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DBAAC-8414-429A-B73D-D3AEA988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38375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DC389-CCBF-4120-868C-16DBF470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447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商品类评论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DEF94B-7053-4851-95F6-E61A752D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67025"/>
            <a:ext cx="272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关注质量、价格、物流、售后、包装、使用体验和购买推荐。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34F1B6-9C9D-4956-8185-F4FCF8247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38375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DAC9D-227C-48A7-98AE-2BCDBDF7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47925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社媒类评论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ED345-35E0-4CCF-A28D-E18212B28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67025"/>
            <a:ext cx="27241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关注话题声量、舆情风险、品牌态度、传播路径和互动反馈。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317986-9544-45FC-B5F3-EF675779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异常信号：视频任务结果全是电商词、全部负向、NPS 长期为 0。</a:t>
            </a:r>
          </a:p>
        </p:txBody>
      </p:sp>
    </p:spTree>
    <p:extLst>
      <p:ext uri="{BB962C8B-B14F-4D97-AF65-F5344CB8AC3E}">
        <p14:creationId xmlns:p14="http://schemas.microsoft.com/office/powerpoint/2010/main" val="19078305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0F1083-A505-48A2-A4E1-057490F1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如何操作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2C35C-59CE-451F-AC64-9A0C692B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标准操作流程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4750BC-B5AD-4561-9150-5146C8A8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培训现场建议按这个顺序演示一遍，用户会更容易建立完整路径。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311261-A293-47BB-81DE-AD5697B8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6C9AC0-C0CD-405E-8D94-A054FC9A0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如何操作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10E358-085B-4E21-AD3F-67AC4C77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2C264F-9C7F-4952-BB57-0B2C2D13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70E556-D3D6-46A6-8DA5-3D242597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98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7DF4A-735C-4776-AE87-60709102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908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登录系统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1F6A09-42DA-4BAA-A1BD-1BC16C0A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238375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4C25C4-1FFA-4E0A-A8E9-C28AC533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098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6772ED-0921-4D8F-B96A-A3D299D7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7908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进入评论采集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00E3DF-205C-42C4-8A72-B67E17A4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38375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22024D-6E5F-4A23-B03D-894DF32D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98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56A9A-CBEF-4B8C-A503-E438D163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908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202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创建一次采集或监听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924924-D901-4055-9F21-0E4F012B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167DBA-1CC2-4F34-82F4-B2A0E71B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0982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3439F9-0FEA-4CA6-B45D-2037A419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908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等待采集完成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4EE6BD-B8EC-4E87-A9EB-A5E06F61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81425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80034A-8367-4C69-9D5D-725E7AED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5287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4E5CF3-AB88-4C3E-89B8-28C4C65F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发起 AI 分析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F7C34A-5033-4664-835E-06682BBC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781425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C0C670-03C3-46D7-9967-717F56C4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5287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B02FF5-D7D2-4563-BA5E-0FD0B3A8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3338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打开分析报告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2357F1-5E79-4121-82B0-C2C39D27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81425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331146-7AB9-4536-AF8A-31B72FBB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5287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D05E8C-66DE-4E14-85C5-CD673681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338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评论明细复核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BA9596-FB7F-4500-874D-34167CE0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81425"/>
            <a:ext cx="2190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822262-380E-4510-A072-674B22CEE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52875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1D763E-53AA-441B-9BFD-0AB868E0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3338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沉淀行动项</a:t>
            </a:r>
          </a:p>
        </p:txBody>
      </p:sp>
    </p:spTree>
    <p:extLst>
      <p:ext uri="{BB962C8B-B14F-4D97-AF65-F5344CB8AC3E}">
        <p14:creationId xmlns:p14="http://schemas.microsoft.com/office/powerpoint/2010/main" val="1556180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0C7FA9-CAC0-4385-AB95-27EEB51B5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如何操作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DBEA6-BD7B-436C-9A24-561554DA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第一步：登录并看任务看板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7C214-FECA-407F-A36F-DCEA00C9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任务看板用于确认账号、额度、任务状态和最近分析任务。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4BD4D-E34C-4A00-B246-375230A3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D4245-58A5-4D2D-BBA0-8E9887B8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如何操作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A63737-2E62-4D3E-B5B9-D40A933CD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B41DE-CF00-4B48-9537-7FD684B6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f2bdd2a2f4deb"/>
          <a:stretch xmlns:a="http://schemas.openxmlformats.org/drawingml/2006/main"/>
        </p:blipFill>
        <p:spPr>
          <a:xfrm xmlns:a="http://schemas.openxmlformats.org/drawingml/2006/main">
            <a:off x="666750" y="2514600"/>
            <a:ext cx="2743200" cy="1543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E4CA5-4D05-415B-9540-91612A9B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57375"/>
            <a:ext cx="49530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797c2f668c4134"/>
          <a:stretch xmlns:a="http://schemas.openxmlformats.org/drawingml/2006/main"/>
        </p:blipFill>
        <p:spPr>
          <a:xfrm xmlns:a="http://schemas.openxmlformats.org/drawingml/2006/main">
            <a:off x="3771900" y="1972866"/>
            <a:ext cx="4838700" cy="2721769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F66A57-FE72-4C88-A2B4-066026A3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28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8EAB13-0EED-47C0-BBB8-0393D66B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0AF53-5591-48DB-9C30-08E27389C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2098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先看额度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48D5B-9E31-4CFF-9EE5-01103FA0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955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86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确认评论额度和分析次数是否足够。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DA07E6-A885-4065-91EF-A614857B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90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FA91E-F44E-49B6-91B8-3A12637ED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19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B99393-B005-4D4E-9E3C-55AA2A9E4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718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再看状态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43F57F-27CE-4351-8331-D307EB8C8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2575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721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排队、进行中、失败任务要及时处理。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576432-16C7-4843-9C5F-E0CFEDAD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52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09DA29-DFCC-4E63-B054-EE437E43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81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296BD9-4B5B-453B-81AC-BAED2244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3380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进入记录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F36570D-BFEC-4638-91C0-24F884BD0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19550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63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从最近任务或分析记录打开详情。</a:t>
            </a:r>
          </a:p>
        </p:txBody>
      </p:sp>
    </p:spTree>
    <p:extLst>
      <p:ext uri="{BB962C8B-B14F-4D97-AF65-F5344CB8AC3E}">
        <p14:creationId xmlns:p14="http://schemas.microsoft.com/office/powerpoint/2010/main" val="151920979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D6E0FC-74E8-40CA-87A4-7344A692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如何操作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D682D-047E-41A1-841D-5D864462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第二步：创建一次性采集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1CB018-FF8F-457F-B6F5-1023DD335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适合临时分析某条视频、某次活动或某个内容链接。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BBF23-495B-48D5-B6CD-C079B729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23BC6-D30D-477F-A1A3-86B36DC1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如何操作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EC578-0808-499A-88D2-BC8F4E04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EF265-7CA3-414D-B246-85F74090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5cd45884f94412"/>
          <a:stretch xmlns:a="http://schemas.openxmlformats.org/drawingml/2006/main"/>
        </p:blipFill>
        <p:spPr>
          <a:xfrm xmlns:a="http://schemas.openxmlformats.org/drawingml/2006/main">
            <a:off x="6153150" y="1960959"/>
            <a:ext cx="5219700" cy="293608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B117F-1E3F-4375-A67E-B78D9E1F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E9DA7-DBDC-42C1-9301-8738C6C4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527F50-AE8E-446A-8373-B7C5EF9B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任务名称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65A2CA-0D37-48D8-87FD-7A9E91764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建议包含平台、主题和日期，便于后续识别。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B52A5A-2B71-479D-B621-361B39A0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56E615-F654-41CF-B4A2-7D3853E8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5FA812-F60D-41DB-97A9-3F9B95CEF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链接与来源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0B472C-E992-49AC-8639-B558CF00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YouTube 链接就选 YouTube，避免来源错配。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9218B8-23E4-4E3F-A81B-C32250C9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97BE5-A92B-464B-990B-08D583B74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BAC6DA-8A32-4C50-AA4C-1A5BF9AD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分析类型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0AFE6A-DEF0-41F8-A7D1-74A7469D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视频、商品、社媒必须按实际场景选择。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07E4D0-F9BC-4581-A7D7-7E0006A6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90064D-0C62-4115-8BF6-DE6F86F8F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E79CE4-18A7-45D1-8070-C780F57A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采集条数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DD51BA-9F3E-41A1-82A4-3D4DA5BE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初次建议 100-300 条验证，再扩大规模。</a:t>
            </a:r>
          </a:p>
        </p:txBody>
      </p:sp>
    </p:spTree>
    <p:extLst>
      <p:ext uri="{BB962C8B-B14F-4D97-AF65-F5344CB8AC3E}">
        <p14:creationId xmlns:p14="http://schemas.microsoft.com/office/powerpoint/2010/main" val="30145830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3AF100-C6B1-4253-BDA0-99993485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如何操作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F8A70D-2BFF-4A95-A610-BB20BDD9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第三步：创建持续监听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607AA-A727-457C-A149-E641588D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适合持续追踪同一链接的新评论，比如新品发布、投放视频或舆情内容。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D1F16C-0274-4CD8-B9E7-F6364A62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C4C4C-DE67-4483-9830-EFF11352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如何操作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EDC525-42A6-4133-95B3-02CBBD33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E3CBB-0CB7-4E73-96F7-972585EE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5143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7ada2d60c4693"/>
          <a:stretch xmlns:a="http://schemas.openxmlformats.org/drawingml/2006/main"/>
        </p:blipFill>
        <p:spPr>
          <a:xfrm xmlns:a="http://schemas.openxmlformats.org/drawingml/2006/main">
            <a:off x="723900" y="2071688"/>
            <a:ext cx="5029200" cy="28289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B1D86A-0943-4D3C-97FD-138E2851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19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A9269F-64D3-4603-BCE3-026FFA4B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0178B1-01DF-4EA3-A42C-029EC3AA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002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设置频率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03899-6E52-489E-85BD-5022E9C1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860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热点内容可 1-6 小时；普通内容可每天或每几天。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AF0F75-A88D-42DB-83D8-46F1271B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11D398-D66D-4DEA-928F-60B52237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52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75E95-F989-4072-8AD4-DB7B7E8C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70510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设置单次上限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30B08-381C-4A3D-A55B-17C0C1A3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9908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控制每次运行最多采集多少条评论。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110EFF-ADC9-4BE2-B551-A2BCD380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243485-5A1C-4D55-A12E-D3EFA6A9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575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9489AB-3610-4E2A-91F9-9B5D5E28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4099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按需自动分析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7C0EB1-926D-42AA-80B3-7B081547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9570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开启后采集完成自动进入 AI 分析流程。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BEBC3F-49BE-45A2-8655-518B761C8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338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1BF9F-7200-4DBF-9D38-92E801076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624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02BFA6-58BC-49DB-8C95-368B8DD8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11480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切页后仍保留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3DB2D3-F68E-434C-A86F-13E955BF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005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监听任务保存在系统中，刷新后也应存在。</a:t>
            </a:r>
          </a:p>
        </p:txBody>
      </p:sp>
    </p:spTree>
    <p:extLst>
      <p:ext uri="{BB962C8B-B14F-4D97-AF65-F5344CB8AC3E}">
        <p14:creationId xmlns:p14="http://schemas.microsoft.com/office/powerpoint/2010/main" val="19535996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CB0D79-0D5D-494D-B353-61275815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如何操作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FDBF04-67DF-4539-9863-AD36ABD6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采集结果怎么看：状态、重试和删除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3ECCD5-B6EB-4F1E-82AE-0D43EFDD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采集页既看持续监听任务，也看每次采集记录。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B5884-94F8-48E7-9C4C-32936D663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AD0FD4-EDA6-4325-A3DF-3833A62D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如何操作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C8CE85-B256-4258-9641-713FCE69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119C98-2C1E-440D-B41F-CC075B3A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61912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26d321df824949"/>
          <a:stretch xmlns:a="http://schemas.openxmlformats.org/drawingml/2006/main"/>
        </p:blipFill>
        <p:spPr>
          <a:xfrm xmlns:a="http://schemas.openxmlformats.org/drawingml/2006/main">
            <a:off x="697442" y="1866900"/>
            <a:ext cx="5977467" cy="33623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F24C5-5EE5-42AB-A3CD-73ECCD1D2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2880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2D0EB0-AE1A-439F-A9B8-21ED2AFC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383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排队中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816F8-93DB-4FE0-85FC-E5AFA59E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3581400" cy="-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等待 worker 执行，不要重复创建太多任务。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6E3A0A-A02E-4E28-9114-9410DA21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4795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3EA766-C781-4246-8A76-C684DF9ED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575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抓取中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A801B-C351-4C29-A296-AB14DBA9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76600"/>
            <a:ext cx="3581400" cy="-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正在访问平台并滚动加载评论。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9D24AB-8A4C-4E5D-A9D5-E2AF720B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46710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CAE96-D081-4884-9A19-B81D87EE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7665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5803D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B59243-1CC4-4C64-85F6-176397AC8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95750"/>
            <a:ext cx="3581400" cy="-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可以点击开始分析。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AE0831-26EC-4AF0-815F-D21C11A4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86250"/>
            <a:ext cx="400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344A9-545B-4799-AD6C-0CE3CEC4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95800"/>
            <a:ext cx="3581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68854-86A0-419E-BD82-8E6B5406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14900"/>
            <a:ext cx="3581400" cy="-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先看错误，再决定重试或删除。</a:t>
            </a:r>
          </a:p>
        </p:txBody>
      </p:sp>
    </p:spTree>
    <p:extLst>
      <p:ext uri="{BB962C8B-B14F-4D97-AF65-F5344CB8AC3E}">
        <p14:creationId xmlns:p14="http://schemas.microsoft.com/office/powerpoint/2010/main" val="182305102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0B6F65-A57B-4443-8CB1-F4A20676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如何操作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91EF37-A731-46C3-BB64-BD53A935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第四步：发起 AI 分析并查看日志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8529F-52A2-48AF-9FE4-AB50F649A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分析记录用于确认任务是否已导入、是否排队、是否完成，以及失败原因。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EAC9A2-E211-4D4D-892B-2E260FB0E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FE9B7-2C67-4EE6-A59C-ACE624EE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如何操作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629D85-44D1-44D0-A00C-3AD0795C8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C9D54E-2971-4A84-8975-51B9A616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733550"/>
            <a:ext cx="56197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414b1ae9c4e3d"/>
          <a:stretch xmlns:a="http://schemas.openxmlformats.org/drawingml/2006/main"/>
        </p:blipFill>
        <p:spPr>
          <a:xfrm xmlns:a="http://schemas.openxmlformats.org/drawingml/2006/main">
            <a:off x="5981700" y="1923455"/>
            <a:ext cx="5505450" cy="3096816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74E3EC-C411-4708-96BE-9AF650CB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BB0DB0-CA02-428E-894F-F1C356AD8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09752-1C42-409F-9409-DB680B708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621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分析前检查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97352C-D971-423E-814F-B1EDAEAB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7900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评论数量、分析类型、任务名称、重复任务。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BF7A66-C97F-45EC-AB85-1085EF16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D6C347-1909-480F-8CFA-3BD4E4F9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DBFCE2-CB93-4B95-9691-52FADD72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状态判断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AE7DD-C3CF-4714-8097-3DF45DD1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未分析、排队中、分析中、已完成、部分失败、失败。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096A2D-684E-46B6-AD52-24EE4C8A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D0E2C8-0512-4519-A0B4-43D1CB9C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43786B-2F21-47DB-9110-A1B6C90B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日志筛选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47AA0-956F-46A7-B716-7FDC0A6B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279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失败时先切到“错误”，再看模型、额度、网络或数据异常。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73A2B9-EF8B-4152-81D0-22DAEAFA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F00D69-517B-4A36-9D4D-9D6AB8182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3009AD-142E-4F75-A845-05EDF44C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大批量处理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F2580F-831F-4DBE-BD61-8EFB7F1D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33900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几千到几万条评论需要等待，建议分批或持续监听。</a:t>
            </a:r>
          </a:p>
        </p:txBody>
      </p:sp>
    </p:spTree>
    <p:extLst>
      <p:ext uri="{BB962C8B-B14F-4D97-AF65-F5344CB8AC3E}">
        <p14:creationId xmlns:p14="http://schemas.microsoft.com/office/powerpoint/2010/main" val="8378821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71CE32-03A8-4884-87BD-47B8F82D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操作结果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53F570-0176-4867-AE84-3BD1D499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第五步：阅读分析报告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75D1E4-94F3-42A7-92B4-BFE458CD1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新版报告页先给出执行摘要，再给出关键指标快照和详细洞察。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468B3-02C8-4967-BACB-F3A30ED7C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E550CB-01CC-4056-80FA-F9AFFEAE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操作结果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9F437F-0692-4F7F-B46D-E363C26A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44A34E-A7F5-488C-9A20-BEB8FDDF1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33550"/>
            <a:ext cx="6572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142f02ebe840fc"/>
          <a:stretch xmlns:a="http://schemas.openxmlformats.org/drawingml/2006/main"/>
        </p:blipFill>
        <p:spPr>
          <a:xfrm xmlns:a="http://schemas.openxmlformats.org/drawingml/2006/main">
            <a:off x="676275" y="1790700"/>
            <a:ext cx="6400800" cy="3600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99238-DABF-4A37-AAE2-2E52FCA1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81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EF6843-8042-4AF2-9B38-4A53B09C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97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A1BA95-BCB8-4FFD-B418-8BBF5CC9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621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先看摘要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F3ACC-0560-4650-965A-8A634678A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479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判断整体态度、主要矛盾和优先关注点。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979C4-0714-4BF8-8F53-5101AEEB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24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B44A9A-F446-4EA8-894F-EC901A94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52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7F99C-D00B-49B8-ABBF-B98A0668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再看指标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E29E53-0B35-46DB-9760-3A4F0B31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908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348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评论样本、正向占比、负向/争议评论、观点支持度。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F60D2D-F1F9-42EC-883B-8D0922D9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67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5FA9CB-B075-4009-BDC6-062BF48A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95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22066C-B96A-4B5E-87BA-0AC475DA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44805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看主题证据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3C4949-DBB4-4F4E-A204-24158A69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73380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28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情绪、意图、用户声音、观点聚类和代表性评论。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B74E2-FDE7-4294-AB6A-5083CF2D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10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BAC7D-2A2F-46DC-A9F1-1FEA898E1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386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95F403-ED7B-4BD0-9717-FE0FB1AC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91000"/>
            <a:ext cx="3162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看行动建议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EE7988-3DE5-487A-BD4B-8006F585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476750"/>
            <a:ext cx="3162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确认痛点、机会点和下一步处理动作。</a:t>
            </a:r>
          </a:p>
        </p:txBody>
      </p:sp>
    </p:spTree>
    <p:extLst>
      <p:ext uri="{BB962C8B-B14F-4D97-AF65-F5344CB8AC3E}">
        <p14:creationId xmlns:p14="http://schemas.microsoft.com/office/powerpoint/2010/main" val="486453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9CEEBA-F31D-417D-B3B2-8A79C525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操作结果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4145BC-71CE-496E-A7E1-A2093B9B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报告如何交付：三种导出方式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628857-C847-4F6F-B387-B6E09E0E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导出前先复核代表性评论，避免敏感信息或未确认结论被外发。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A948A4-E35C-4200-9528-C163257A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F5B96-D52F-440B-A643-6894F109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操作结果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975E8-41AA-4352-ACB7-373E4C16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19227-D15F-421D-A9F2-01C0641A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952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48DC89-A7AF-4A73-95C4-C36BB192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Markdown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75A098-DCAC-4008-B485-5B6EAAAB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适合内部复盘、二次编辑、粘贴到知识库。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6CC22-4EE7-4584-8B25-26A90988A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2952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9DFE9-1DE9-4994-AAE4-185F7127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476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HTML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685C3-8168-4E59-B599-8CEC4322F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3528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适合静态页面归档，或发送给同事直接打开查看。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99438-5E48-4620-87BC-FE6D18F2C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90750"/>
            <a:ext cx="2952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A0F314-8186-465F-8B7E-3307B886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765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88632-98C1-4168-A782-32FFBB69F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352800"/>
            <a:ext cx="2305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通过浏览器打印 / 保存 PDF，适合正式汇报和留档。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87CB0-33ED-49C7-8552-EA45608B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00625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讲师提醒：图表和交互以系统页面为准；导出文件保留结构化结论、指标和证据文本。</a:t>
            </a:r>
          </a:p>
        </p:txBody>
      </p:sp>
    </p:spTree>
    <p:extLst>
      <p:ext uri="{BB962C8B-B14F-4D97-AF65-F5344CB8AC3E}">
        <p14:creationId xmlns:p14="http://schemas.microsoft.com/office/powerpoint/2010/main" val="10556205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6D4C1D-F706-4A08-A5FD-9D5B6357E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操作结果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2C207-5C12-41EC-B2B5-01820D6C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第六步：回到评论明细复核证据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584A4-2033-49B6-91E3-313CE11F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AI 报告适合快速发现趋势，但重要结论必须回到原文抽查验证。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26175-9FF5-46E2-866C-0335FBE0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302EB-B1BE-4E09-9913-FE7699EA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操作结果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63C1BE-8291-4DB9-81DD-BD8FE00E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9E974-F520-4BED-830D-36268C51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14500"/>
            <a:ext cx="5334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5cb5dbc454efd"/>
          <a:stretch xmlns:a="http://schemas.openxmlformats.org/drawingml/2006/main"/>
        </p:blipFill>
        <p:spPr>
          <a:xfrm xmlns:a="http://schemas.openxmlformats.org/drawingml/2006/main">
            <a:off x="6153150" y="1960959"/>
            <a:ext cx="5219700" cy="293608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C02441-DC7A-40C1-8786-CF2148CA1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8B002-EA3C-4FE7-B87E-27093A20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EF1D7-03F2-407B-9470-45B988CD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搜索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4D6F8-E044-44D3-8F98-FEC9006F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按关键词定位争议点、品牌词、人物或主题。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6B5FA-C622-49EB-AA65-53A93B19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A4B7F4-95B7-48C2-8BFF-7E7C1AE0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5EA431-FE1D-46D8-973A-4BB5602F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筛选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3CDA02-7F0B-4C90-AE63-C97E4077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990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高频筛选在顶部，评分、媒体、来源等在更多筛选。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032047-947B-49CE-AAC7-9049A046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67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F1D1C7-552D-477E-A189-ABB6C8F9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95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F59596-63EB-4968-924B-3DEF67EF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导出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B53816-1B47-453F-AD58-3514EF8F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按当前筛选结果导出，用于证据和二次分析。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0465CC-5693-494B-9B7C-2A4C3F0E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EF4B7-D906-423C-8FC2-C819301C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DE6219-29C3-420B-B910-356BFFBE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71950"/>
            <a:ext cx="430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人工修正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53FE8A5-6AA2-47EE-8D62-3183846F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5770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发现 AI 标注错误时可修正，沉淀反馈。</a:t>
            </a:r>
          </a:p>
        </p:txBody>
      </p:sp>
    </p:spTree>
    <p:extLst>
      <p:ext uri="{BB962C8B-B14F-4D97-AF65-F5344CB8AC3E}">
        <p14:creationId xmlns:p14="http://schemas.microsoft.com/office/powerpoint/2010/main" val="14780145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DE1FE3-9863-46E2-82A5-0F7F10CF9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操作结果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A82105-D302-48FB-935D-92395C4F7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第七步：把洞察转成行动项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7D8FF-5286-4F78-8CA8-B2ABF588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增长运营页面帮助把主题、痛点、机会点转成可跟进事项。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7C2A3-E683-4C3C-B57B-0B428A9E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BAA5DB-05F0-45CF-86C0-E6DCC92F1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操作结果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42CE4E-4E4A-4344-8268-8E6D75C7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AB40BE-1621-4D7D-B287-47775D6F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58102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d75492e4548cd"/>
          <a:stretch xmlns:a="http://schemas.openxmlformats.org/drawingml/2006/main"/>
        </p:blipFill>
        <p:spPr>
          <a:xfrm xmlns:a="http://schemas.openxmlformats.org/drawingml/2006/main">
            <a:off x="647700" y="1827014"/>
            <a:ext cx="5695950" cy="320397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A5BA95-D8ED-493F-8848-E0609883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7A27FA-B4D0-4F26-8823-55550268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478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6B216D-F33F-4071-974D-4A5378E3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000250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定位问题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581295-A704-4740-829A-CAC516D2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860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从报告中找到高频痛点和争议点。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C691D-79DD-417B-AA93-BDDDD292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432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72469C-8471-4CBE-A7D8-EBAABD50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717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6090C-C691-4D7C-B93D-C5868E97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24150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拆成动作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1B4015-1A92-4C9C-9B84-D33E3387F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099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把建议变成负责人、优先级和截止日期。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FB2264-D5ED-4D4D-B0F1-C6E90ECC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671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25CF2-56C7-4C1A-8429-32ADC41C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956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D36DD9-A865-4F32-804F-D4202D20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48050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跟进状态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AABF29-FC55-49FF-B22D-727F2A9F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338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按未处理、处理中、已完成持续推进。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DAFDA9-A72C-4AC0-ABBA-4ED8D3AF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1910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A73808-236E-4247-AA9E-BA3A3369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195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4DEB4F-9923-4E70-97E1-7479A215C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3733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复盘变化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8D61C9-7451-40EF-8DE8-E4227A9C9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57700"/>
            <a:ext cx="3733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后续通过监听观察评论变化。</a:t>
            </a:r>
          </a:p>
        </p:txBody>
      </p:sp>
    </p:spTree>
    <p:extLst>
      <p:ext uri="{BB962C8B-B14F-4D97-AF65-F5344CB8AC3E}">
        <p14:creationId xmlns:p14="http://schemas.microsoft.com/office/powerpoint/2010/main" val="77828502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22FC34-8BB9-4865-9CCC-5CC786E6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如何操作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9E04E-BD6D-48FF-AE73-0E096DD1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移动端使用：看状态和轻量操作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368BDB-D80A-46AA-9DAF-0D95D78E4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系统会识别 PC 或移动设备并展示对应 UI。复杂表格和批量复核仍建议使用电脑。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57ED7-1568-4712-A896-161D787D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F3F7FD-B2E5-4684-90EF-1159BA94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如何操作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0A98F7-4593-406C-B694-B9996728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266E3A-EFA2-460A-A5E7-6D8B938FF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66875"/>
            <a:ext cx="2857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2DE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517ba898e41b9"/>
          <a:stretch xmlns:a="http://schemas.openxmlformats.org/drawingml/2006/main"/>
        </p:blipFill>
        <p:spPr>
          <a:xfrm xmlns:a="http://schemas.openxmlformats.org/drawingml/2006/main">
            <a:off x="1443958" y="1724025"/>
            <a:ext cx="1798384" cy="3981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4D51DD-792E-42D6-B8A5-250D94A5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52625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18F003-02F5-4B6A-9A07-F51E070A3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1621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适合手机做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E73E4C-0EC3-49D2-AB0C-00F0D606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581275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868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查看状态、刷新任务、打开报告、轻量复核、确认任务是否完成。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CE2C4-AD46-49CB-9458-8317C9ED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2857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DB328-3DC1-4D7F-A2D8-23BEFF19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62175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建议电脑做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D7E8AB-2BCE-484F-A848-708D7ED5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581275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948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复杂筛选、大量评论复核、批量导出、后台管理和配置调整。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E29181-4BC6-48B6-B75C-9EBA5449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957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6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手机端评论明细会以卡片和分页展示，减少宽表格横向拖动。</a:t>
            </a:r>
          </a:p>
        </p:txBody>
      </p:sp>
    </p:spTree>
    <p:extLst>
      <p:ext uri="{BB962C8B-B14F-4D97-AF65-F5344CB8AC3E}">
        <p14:creationId xmlns:p14="http://schemas.microsoft.com/office/powerpoint/2010/main" val="12095074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C2539C-BF48-49F2-9955-B756565B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操作结果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03562B-004C-41A6-921C-96986BB6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一次完整操作会得到什么结果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C76A8-BB44-4AD1-9E3F-B0869DC05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培训不只教按钮在哪里，更要让用户知道每一步产出怎么用。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FF3CB9-B57F-4EE1-B3B3-BBFFD804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FAD061-569D-4B4F-A40E-159CE39B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操作结果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A1853-596C-436C-A912-55EEA311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7F477C-8F5D-47F8-B1C0-D21EC912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9F1EA-4E05-440D-AA92-87BBDB96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原始评论库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40E093-36DC-414F-B6A0-4A775D08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可搜索、筛选、导出和复核的评论明细。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3C4B04-9D26-4B32-8B47-9B0AABC6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025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B9BD8-0255-42A7-9562-7D45861E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098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AI 分析报告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C43A2-87B9-40E5-A673-F864A8EDF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289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执行摘要、指标快照、主题洞察和行动建议。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1FF8F0-5E87-497A-BC38-D434BE39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00250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13C7F3-C8A7-4B05-9965-E7352D88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导出文件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357662-1765-473D-A28F-9E5D5936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28900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Markdown、HTML、PDF，用于复盘、归档和汇报。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C07390-9448-4860-A625-3EE57613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48125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8AFAF-C4F2-4AAF-8864-B5296387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2576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代表性证据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17189A-7200-45C9-84FB-C620299D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76775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支撑结论的原文评论，可用于报告引用。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6986BD-CEC0-4826-B01D-F4B3F267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48125"/>
            <a:ext cx="3048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C98493-EB6F-47FE-B178-5F71691C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57675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行动项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37902C-94C5-42EB-8A72-EC23999D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76775"/>
            <a:ext cx="26289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可分配、可跟进、可复盘的运营事项。</a:t>
            </a:r>
          </a:p>
        </p:txBody>
      </p:sp>
    </p:spTree>
    <p:extLst>
      <p:ext uri="{BB962C8B-B14F-4D97-AF65-F5344CB8AC3E}">
        <p14:creationId xmlns:p14="http://schemas.microsoft.com/office/powerpoint/2010/main" val="3178603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AE9A09-1A60-49C4-88A5-059328A7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1CA8C-4678-45DF-93F2-097546A52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系统能带来的价值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A904D-C692-4DA3-B2C0-F5B6D527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ReviewIQ 的价值不是“AI 帮忙写几句话”，而是把评论分析变成稳定流程。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0E503-CB01-4F44-800D-754FA665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58622-9040-49E5-8450-DAFFD08D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业务价值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6A837-0DA2-4C49-AEE6-9E778D79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49DA67-BD21-431C-A2F4-9113DF2B1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6F5D6-644E-429A-BE5B-F80CC8A1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更快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8E1A9-D693-4A7A-B774-FC609598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减少人工复制评论和手工归类时间。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24BDB-D65D-4A03-A1EB-EA0061D7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907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04230-4299-4DAE-AC19-29614228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717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更准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B5D3CD-6096-4B25-A370-642D059A0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476625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用原始评论证据校验 AI 结论，减少拍脑袋。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F605E0-D8E5-4F07-912F-729AB5D7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907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EB34E-9FF0-463D-9004-8F2FC3CF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更稳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5A320-E951-4A16-A480-EE2F9ACB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476625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按分析类型统一口径，避免视频评论被商品口径误判。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BD490C-8D76-4BBD-A3EC-BE947F72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90750"/>
            <a:ext cx="2381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4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882BF5-2ACC-47C7-801C-61BBFBF2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71750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更易协作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25314A-0703-4DB7-9265-65C35AA6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476625"/>
            <a:ext cx="1762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321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报告、导出文件、行动项让跨团队跟进更清楚。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1953E6-34C4-42DD-AA88-F838A2C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43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32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最终目标：从“看评论很杂”变成“知道用户在说什么、哪些问题优先处理、下一步谁负责”。</a:t>
            </a:r>
          </a:p>
        </p:txBody>
      </p:sp>
    </p:spTree>
    <p:extLst>
      <p:ext uri="{BB962C8B-B14F-4D97-AF65-F5344CB8AC3E}">
        <p14:creationId xmlns:p14="http://schemas.microsoft.com/office/powerpoint/2010/main" val="490989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920D67-2495-40CA-9C1C-DCE3851AC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培训收尾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6829B-4F7F-49A7-B3BA-09D866BBA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781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现场演示脚本与上手口径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748DC3-4487-4919-BF0F-0F426DB8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最后用真实任务或演示数据走一遍，让用户带着流程离开。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83AAB8-3134-4FEB-A3C4-612299EA8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11633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7B2233-154D-46BB-97AB-3028BF75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培训收尾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9A4918-4934-4950-9A46-DDEC0B70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533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61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B6472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BB47E-C7CC-49C1-B1E1-D465E0E0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300BF2-75EF-481B-8D4F-684BCC30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20CDF-9676-4703-88F2-B690B435B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05000"/>
            <a:ext cx="611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打开任务看板，确认额度和最近任务。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8D382E-6144-4288-B99D-C42CC479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CA365-B3C1-4AAA-AAF9-EE867EC3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BC248-27E8-4E83-9D2B-413E2D7B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611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进入评论采集，创建一次性采集或监听任务。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172000-ADA4-4A47-8D09-3580202F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914D4-60EB-4C0E-8277-EEE6D890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8327BC-4C84-4B97-A02F-82D0F0BB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611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讲清来源渠道和分析类型，尤其是视频类评论。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6DA5E9-4A6E-4FD2-9758-EDDF886D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309985-27D9-4724-8F81-D1C1CE6C7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3B3865-205F-4B93-BC65-6F7FBAA2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611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在分析记录查看状态和日志。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336C16-7330-493E-B2B7-D18A5043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FCCF46-A663-4018-8C10-06CAE2CB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1482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99B20-9CC2-47F1-8ECD-D404BF0C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67200"/>
            <a:ext cx="611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打开报告，演示导出 Markdown / HTML / PDF。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3F3993-1733-474F-9CA5-7847B8A0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FCFB14-DB32-4E70-80C0-62E1A08D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E749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B2AA92-2950-4C00-8585-1308F8F6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611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回到评论明细抽查原文，再进入增长运营分配行动项。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CC9FAC-52D5-4025-A6B4-93EE379D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9550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01E8B8-DB8C-4C50-8770-751A85EA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28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用户记住三句话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43516A-5BBF-4991-9A82-A9394039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48000"/>
            <a:ext cx="247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1. 链接公开可访问。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 分析类型一定选对。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3. 结论回到原文验证。</a:t>
            </a:r>
          </a:p>
        </p:txBody>
      </p:sp>
    </p:spTree>
    <p:extLst>
      <p:ext uri="{BB962C8B-B14F-4D97-AF65-F5344CB8AC3E}">
        <p14:creationId xmlns:p14="http://schemas.microsoft.com/office/powerpoint/2010/main" val="19266446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2026-06-26T05:58:15.4980000Z</dcterms:created>
  <dcterms:modified xsi:type="dcterms:W3CDTF">2026-06-26T05:58:15.4980000Z</dcterms:modified>
</coreProperties>
</file>